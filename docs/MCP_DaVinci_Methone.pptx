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named systems, one question, four options, one recommendation.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connectivity  ·  DaVinci (Azure) ↔ Methone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BRIEFING  ·  OCTOBER 2026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916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two MCP servers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7432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3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DaVinci on Azure and Methone: four ways to link them, and the one to build first.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4069080"/>
            <a:ext cx="2926080" cy="1097280"/>
          </a:xfrm>
          <a:prstGeom prst="roundRect">
            <a:avLst>
              <a:gd name="adj" fmla="val 8333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4244645"/>
            <a:ext cx="292608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DaVinci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683557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· Azure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321040" y="4069080"/>
            <a:ext cx="2926080" cy="1097280"/>
          </a:xfrm>
          <a:prstGeom prst="roundRect">
            <a:avLst>
              <a:gd name="adj" fmla="val 8333"/>
            </a:avLst>
          </a:prstGeom>
          <a:solidFill>
            <a:srgbClr val="E36F1E"/>
          </a:solidFill>
          <a:ln w="12700">
            <a:solidFill>
              <a:srgbClr val="E36F1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321040" y="4244645"/>
            <a:ext cx="292608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Methone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8321040" y="4683557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· the system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4206240"/>
            <a:ext cx="2926080" cy="822960"/>
          </a:xfrm>
          <a:prstGeom prst="roundRect">
            <a:avLst>
              <a:gd name="adj" fmla="val 50000"/>
            </a:avLst>
          </a:prstGeom>
          <a:solidFill>
            <a:srgbClr val="22335A"/>
          </a:solidFill>
          <a:ln w="19050">
            <a:solidFill>
              <a:srgbClr val="A9B6CF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4572000" y="42062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D3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sits in the middle?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749040" y="4617720"/>
            <a:ext cx="822960" cy="914"/>
          </a:xfrm>
          <a:prstGeom prst="line">
            <a:avLst/>
          </a:prstGeom>
          <a:noFill/>
          <a:ln w="31750">
            <a:solidFill>
              <a:srgbClr val="A9B6CF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7498080" y="4617720"/>
            <a:ext cx="822960" cy="914"/>
          </a:xfrm>
          <a:prstGeom prst="line">
            <a:avLst/>
          </a:prstGeom>
          <a:noFill/>
          <a:ln w="31750">
            <a:solidFill>
              <a:srgbClr val="A9B6CF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 txBox="1"/>
          <p:nvPr/>
        </p:nvSpPr>
        <p:spPr>
          <a:xfrm>
            <a:off x="822960" y="6172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basis: MCP 2026-07-28  ·  Companion: mcp-connectivity-reference.html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has no server-to-server wire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44805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 owns every cross-server interaction: one MCP client per server.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 DaVinci and Methone means putting an MCP client between them.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client can be the LLM, a composite server, a gateway, or a sandbox.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it is the design decision.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394960" y="1417320"/>
            <a:ext cx="6217920" cy="4572000"/>
          </a:xfrm>
          <a:prstGeom prst="roundRect">
            <a:avLst>
              <a:gd name="adj" fmla="val 16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03720" y="178308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6A4BC4"/>
          </a:solidFill>
          <a:ln w="12700">
            <a:solidFill>
              <a:srgbClr val="6A4BC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903720" y="192938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host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903720" y="22951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client per server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06440" y="3794760"/>
            <a:ext cx="2377440" cy="960120"/>
          </a:xfrm>
          <a:prstGeom prst="roundRect">
            <a:avLst>
              <a:gd name="adj" fmla="val 9524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806440" y="3948379"/>
            <a:ext cx="2377440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DaVinci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4332427"/>
            <a:ext cx="23774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823960" y="3794760"/>
            <a:ext cx="2377440" cy="960120"/>
          </a:xfrm>
          <a:prstGeom prst="roundRect">
            <a:avLst>
              <a:gd name="adj" fmla="val 9524"/>
            </a:avLst>
          </a:prstGeom>
          <a:solidFill>
            <a:srgbClr val="E36F1E"/>
          </a:solidFill>
          <a:ln w="12700">
            <a:solidFill>
              <a:srgbClr val="E36F1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823960" y="3948379"/>
            <a:ext cx="2377440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Methone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823960" y="4332427"/>
            <a:ext cx="23774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flipH="1">
            <a:off x="6995160" y="2697480"/>
            <a:ext cx="868680" cy="1097280"/>
          </a:xfrm>
          <a:prstGeom prst="line">
            <a:avLst/>
          </a:prstGeom>
          <a:noFill/>
          <a:ln w="31750">
            <a:solidFill>
              <a:srgbClr val="6A4BC4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44000" y="2697480"/>
            <a:ext cx="868680" cy="1097280"/>
          </a:xfrm>
          <a:prstGeom prst="line">
            <a:avLst/>
          </a:prstGeom>
          <a:noFill/>
          <a:ln w="31750">
            <a:solidFill>
              <a:srgbClr val="6A4BC4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812280" y="306324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6A4BC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12280" y="306324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4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418320" y="306324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6A4B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418320" y="306324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4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83880" y="4279392"/>
            <a:ext cx="640080" cy="914"/>
          </a:xfrm>
          <a:prstGeom prst="line">
            <a:avLst/>
          </a:prstGeom>
          <a:noFill/>
          <a:ln w="31750">
            <a:solidFill>
              <a:srgbClr val="D64545"/>
            </a:solidFill>
            <a:prstDash val="dash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8321040" y="4096512"/>
            <a:ext cx="365760" cy="36576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21040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0" y="50749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link. DaVinci reaches Methone only through a client.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08076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MCP architecture overview, modelcontextprotocol.io (2026-07-28).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systems, two very different homes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48132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DaVinci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hosted in Azure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5349240" cy="3246120"/>
          </a:xfrm>
          <a:prstGeom prst="roundRect">
            <a:avLst>
              <a:gd name="adj" fmla="val 2254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788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2788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Streamable HTTP via the Azure boundary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54787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377440" y="3639312"/>
            <a:ext cx="3291840" cy="384048"/>
          </a:xfrm>
          <a:prstGeom prst="roundRect">
            <a:avLst>
              <a:gd name="adj" fmla="val 40476"/>
            </a:avLst>
          </a:prstGeom>
          <a:solidFill>
            <a:srgbClr val="FFF8E1"/>
          </a:solidFill>
          <a:ln w="15875">
            <a:solidFill>
              <a:srgbClr val="C99A0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77440" y="36393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Entra ID (assumed)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30682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377440" y="4398264"/>
            <a:ext cx="3291840" cy="384048"/>
          </a:xfrm>
          <a:prstGeom prst="roundRect">
            <a:avLst>
              <a:gd name="adj" fmla="val 40476"/>
            </a:avLst>
          </a:prstGeom>
          <a:solidFill>
            <a:srgbClr val="FFF8E1"/>
          </a:solidFill>
          <a:ln w="15875">
            <a:solidFill>
              <a:srgbClr val="C99A0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377440" y="439826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or case-facing capability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06577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377440" y="5157216"/>
            <a:ext cx="3291840" cy="384048"/>
          </a:xfrm>
          <a:prstGeom prst="roundRect">
            <a:avLst>
              <a:gd name="adj" fmla="val 40476"/>
            </a:avLst>
          </a:prstGeom>
          <a:solidFill>
            <a:srgbClr val="FFF8E1"/>
          </a:solidFill>
          <a:ln w="15875">
            <a:solidFill>
              <a:srgbClr val="C99A0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377440" y="515721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confirm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141732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E36F1E"/>
          </a:solidFill>
          <a:ln w="12700">
            <a:solidFill>
              <a:srgbClr val="E36F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0" y="148132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Methone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system, exposed through MCP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63640" y="2606040"/>
            <a:ext cx="5349240" cy="3246120"/>
          </a:xfrm>
          <a:prstGeom prst="roundRect">
            <a:avLst>
              <a:gd name="adj" fmla="val 2254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0" y="2788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92440" y="2880360"/>
            <a:ext cx="3291840" cy="384048"/>
          </a:xfrm>
          <a:prstGeom prst="roundRect">
            <a:avLst>
              <a:gd name="adj" fmla="val 40476"/>
            </a:avLst>
          </a:prstGeom>
          <a:solidFill>
            <a:srgbClr val="FFF8E1"/>
          </a:solidFill>
          <a:ln w="15875">
            <a:solidFill>
              <a:srgbClr val="C99A0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92440" y="28803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confirm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354787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092440" y="3639312"/>
            <a:ext cx="3291840" cy="384048"/>
          </a:xfrm>
          <a:prstGeom prst="roundRect">
            <a:avLst>
              <a:gd name="adj" fmla="val 40476"/>
            </a:avLst>
          </a:prstGeom>
          <a:solidFill>
            <a:srgbClr val="FFF8E1"/>
          </a:solidFill>
          <a:ln w="15875">
            <a:solidFill>
              <a:srgbClr val="C99A0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92440" y="36393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confirm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583680" y="430682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size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092440" y="4398264"/>
            <a:ext cx="3291840" cy="384048"/>
          </a:xfrm>
          <a:prstGeom prst="roundRect">
            <a:avLst>
              <a:gd name="adj" fmla="val 40476"/>
            </a:avLst>
          </a:prstGeom>
          <a:solidFill>
            <a:srgbClr val="FFF8E1"/>
          </a:solidFill>
          <a:ln w="15875">
            <a:solidFill>
              <a:srgbClr val="C99A0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092440" y="439826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confirm (decides code execution)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583680" y="506577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092440" y="5157216"/>
            <a:ext cx="3291840" cy="384048"/>
          </a:xfrm>
          <a:prstGeom prst="roundRect">
            <a:avLst>
              <a:gd name="adj" fmla="val 40476"/>
            </a:avLst>
          </a:prstGeom>
          <a:solidFill>
            <a:srgbClr val="FFF8E1"/>
          </a:solidFill>
          <a:ln w="15875">
            <a:solidFill>
              <a:srgbClr val="C99A0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092440" y="515721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confirm (decides approval gating)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items are assumptions or unknowns. They decide which pattern applies on the next slides.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things can sit in the middle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6A4BC4"/>
          </a:solidFill>
          <a:ln w="12700">
            <a:solidFill>
              <a:srgbClr val="6A4BC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Composite server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06040" cy="3657600"/>
          </a:xfrm>
          <a:prstGeom prst="roundRect">
            <a:avLst>
              <a:gd name="adj" fmla="val 280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514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A4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hop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80720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≈0 in-process, +1 HTTP hop remote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611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A4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90448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flows: check DaVinci, then write to Methone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4800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A4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509320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Confused deputy; you own retries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64992" y="141732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47872" y="14173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3364992" y="2377440"/>
            <a:ext cx="2606040" cy="3657600"/>
          </a:xfrm>
          <a:prstGeom prst="roundRect">
            <a:avLst>
              <a:gd name="adj" fmla="val 280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66160" y="2514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hop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280720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network hop, no model turn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3611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390448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governed edge for both servers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566160" y="4800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566160" y="509320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calls, does not chain them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81344" y="141732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1E9E62"/>
          </a:solidFill>
          <a:ln w="12700">
            <a:solidFill>
              <a:srgbClr val="1E9E6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64224" y="14173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execution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6181344" y="2377440"/>
            <a:ext cx="2606040" cy="3657600"/>
          </a:xfrm>
          <a:prstGeom prst="roundRect">
            <a:avLst>
              <a:gd name="adj" fmla="val 280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82512" y="2514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9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hop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382512" y="280720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turn for N calls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382512" y="3611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9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382512" y="390448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Methone exports, loops, filters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382512" y="4800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9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382512" y="509320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sandbox to run; overkill for two tools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997696" y="141732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22335A"/>
          </a:solidFill>
          <a:ln w="12700">
            <a:solidFill>
              <a:srgbClr val="22335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80576" y="14173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A2A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8997696" y="2377440"/>
            <a:ext cx="2606040" cy="3657600"/>
          </a:xfrm>
          <a:prstGeom prst="roundRect">
            <a:avLst>
              <a:gd name="adj" fmla="val 280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198864" y="2514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3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hop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198864" y="280720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tokens on both sides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198864" y="3611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3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9198864" y="390448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DaVinci as an agent that returns decisions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9198864" y="4800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3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9198864" y="509320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tool-wiring protocol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stack: a gateway at the edge, with a composite or code execution beneath it.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Composite: one tool call, two servers, no extra model turns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91840" y="2697480"/>
            <a:ext cx="8412480" cy="2057400"/>
          </a:xfrm>
          <a:prstGeom prst="roundRect">
            <a:avLst>
              <a:gd name="adj" fmla="val 3556"/>
            </a:avLst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5262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6A4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code, no LLM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6A4BC4"/>
          </a:solidFill>
          <a:ln w="12700">
            <a:solidFill>
              <a:srgbClr val="6A4BC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457200" y="1371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/ LLM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508760" y="2011680"/>
            <a:ext cx="914" cy="3566160"/>
          </a:xfrm>
          <a:prstGeom prst="line">
            <a:avLst/>
          </a:prstGeom>
          <a:noFill/>
          <a:ln w="19050">
            <a:solidFill>
              <a:srgbClr val="D5DBE5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474720" y="137160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22335A"/>
          </a:solidFill>
          <a:ln w="12700">
            <a:solidFill>
              <a:srgbClr val="22335A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74720" y="1371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26280" y="2011680"/>
            <a:ext cx="914" cy="3566160"/>
          </a:xfrm>
          <a:prstGeom prst="line">
            <a:avLst/>
          </a:prstGeom>
          <a:noFill/>
          <a:ln w="19050">
            <a:solidFill>
              <a:srgbClr val="D5DBE5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6492240" y="137160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92240" y="1371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DaVinci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543800" y="2011680"/>
            <a:ext cx="914" cy="3566160"/>
          </a:xfrm>
          <a:prstGeom prst="line">
            <a:avLst/>
          </a:prstGeom>
          <a:noFill/>
          <a:ln w="19050">
            <a:solidFill>
              <a:srgbClr val="D5DBE5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9418320" y="137160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E36F1E"/>
          </a:solidFill>
          <a:ln w="12700">
            <a:solidFill>
              <a:srgbClr val="E36F1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418320" y="1371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Methone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469880" y="2011680"/>
            <a:ext cx="914" cy="3566160"/>
          </a:xfrm>
          <a:prstGeom prst="line">
            <a:avLst/>
          </a:prstGeom>
          <a:noFill/>
          <a:ln w="19050">
            <a:solidFill>
              <a:srgbClr val="D5DBE5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508760" y="2468880"/>
            <a:ext cx="3017520" cy="914"/>
          </a:xfrm>
          <a:prstGeom prst="line">
            <a:avLst/>
          </a:prstGeom>
          <a:noFill/>
          <a:ln w="31750">
            <a:solidFill>
              <a:srgbClr val="6A4BC4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1600200" y="21671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A4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open_rma(device, key)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26280" y="2971800"/>
            <a:ext cx="3017520" cy="914"/>
          </a:xfrm>
          <a:prstGeom prst="line">
            <a:avLst/>
          </a:prstGeom>
          <a:noFill/>
          <a:ln w="31750">
            <a:solidFill>
              <a:srgbClr val="0078D4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4617720" y="26700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check_coverage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 flipH="1">
            <a:off x="4526280" y="3474720"/>
            <a:ext cx="3017520" cy="914"/>
          </a:xfrm>
          <a:prstGeom prst="line">
            <a:avLst/>
          </a:prstGeom>
          <a:noFill/>
          <a:ln w="31750">
            <a:solidFill>
              <a:srgbClr val="0078D4"/>
            </a:solidFill>
            <a:prstDash val="dash"/>
            <a:headEnd type="none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4617720" y="31729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covered: true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26280" y="3977640"/>
            <a:ext cx="5943600" cy="914"/>
          </a:xfrm>
          <a:prstGeom prst="line">
            <a:avLst/>
          </a:prstGeom>
          <a:noFill/>
          <a:ln w="31750">
            <a:solidFill>
              <a:srgbClr val="E36F1E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4617720" y="367588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36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reset_license(key)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 flipH="1">
            <a:off x="4526280" y="4480560"/>
            <a:ext cx="5943600" cy="914"/>
          </a:xfrm>
          <a:prstGeom prst="line">
            <a:avLst/>
          </a:prstGeom>
          <a:noFill/>
          <a:ln w="31750">
            <a:solidFill>
              <a:srgbClr val="E36F1E"/>
            </a:solidFill>
            <a:prstDash val="dash"/>
            <a:headEnd type="none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4617720" y="417880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36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ok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 flipH="1">
            <a:off x="1508760" y="5440680"/>
            <a:ext cx="3017520" cy="914"/>
          </a:xfrm>
          <a:prstGeom prst="line">
            <a:avLst/>
          </a:prstGeom>
          <a:noFill/>
          <a:ln w="31750">
            <a:solidFill>
              <a:srgbClr val="1E9E62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1600200" y="5138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9E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opened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sees one tool, open_rma. Three network hops, one model turn.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Gateway: one endpoint, both servers namespaced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251460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6A4BC4"/>
          </a:solidFill>
          <a:ln w="12700">
            <a:solidFill>
              <a:srgbClr val="6A4BC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25146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286000" y="3017520"/>
            <a:ext cx="640080" cy="914"/>
          </a:xfrm>
          <a:prstGeom prst="line">
            <a:avLst/>
          </a:prstGeom>
          <a:noFill/>
          <a:ln w="31750">
            <a:solidFill>
              <a:srgbClr val="6A4BC4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926080" y="1417320"/>
            <a:ext cx="3657600" cy="3200400"/>
          </a:xfrm>
          <a:prstGeom prst="roundRect">
            <a:avLst>
              <a:gd name="adj" fmla="val 2857"/>
            </a:avLst>
          </a:prstGeom>
          <a:solidFill>
            <a:srgbClr val="E6F4F4"/>
          </a:solidFill>
          <a:ln w="25400">
            <a:solidFill>
              <a:srgbClr val="0F8B8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26080" y="1508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gateway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154680" y="2057400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91840" y="20574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Validate token audience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154680" y="2679192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91840" y="26791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Route on Mcp-Name header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154680" y="3300984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91840" y="330098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Per-tool policy &amp; rate limit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154680" y="3922776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91840" y="392277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Exchange token for target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 flipV="1">
            <a:off x="6583680" y="1920240"/>
            <a:ext cx="1097280" cy="457200"/>
          </a:xfrm>
          <a:prstGeom prst="line">
            <a:avLst/>
          </a:prstGeom>
          <a:noFill/>
          <a:ln w="31750">
            <a:solidFill>
              <a:srgbClr val="0078D4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583680" y="3657600"/>
            <a:ext cx="1097280" cy="457200"/>
          </a:xfrm>
          <a:prstGeom prst="line">
            <a:avLst/>
          </a:prstGeom>
          <a:noFill/>
          <a:ln w="31750">
            <a:solidFill>
              <a:srgbClr val="E36F1E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680960" y="146304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680960" y="160934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davinci_*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680960" y="19751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DaVinci MCP · Azure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80960" y="365760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E36F1E"/>
          </a:solidFill>
          <a:ln w="12700">
            <a:solidFill>
              <a:srgbClr val="E36F1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680960" y="380390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methone_*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41696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Methone MCP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03920" y="470916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6454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503920" y="47091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64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writes → approval queue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51663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52578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names are prefixed per target, so the same name on both servers never collides.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DaVinci already sits behind an Azure API gateway product, confirm its MCP support before adding another hop.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execution, if Methone payloads are large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tool calls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148840" y="2148840"/>
            <a:ext cx="2194560" cy="731520"/>
          </a:xfrm>
          <a:prstGeom prst="roundRect">
            <a:avLst>
              <a:gd name="adj" fmla="val 12500"/>
            </a:avLst>
          </a:prstGeom>
          <a:solidFill>
            <a:srgbClr val="6A4BC4"/>
          </a:solidFill>
          <a:ln w="12700">
            <a:solidFill>
              <a:srgbClr val="6A4BC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148840" y="21488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context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93192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E36F1E"/>
          </a:solidFill>
          <a:ln w="12700">
            <a:solidFill>
              <a:srgbClr val="E36F1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39319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Methone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840480" y="393192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840480" y="39319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DaVinci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 flipV="1">
            <a:off x="1737360" y="2880360"/>
            <a:ext cx="777240" cy="1051560"/>
          </a:xfrm>
          <a:prstGeom prst="line">
            <a:avLst/>
          </a:prstGeom>
          <a:noFill/>
          <a:ln w="76200">
            <a:solidFill>
              <a:srgbClr val="D64545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977640" y="2880360"/>
            <a:ext cx="777240" cy="1051560"/>
          </a:xfrm>
          <a:prstGeom prst="line">
            <a:avLst/>
          </a:prstGeom>
          <a:noFill/>
          <a:ln w="76200">
            <a:solidFill>
              <a:srgbClr val="D64545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822960" y="3154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MB in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3154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MB out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8463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 turns. The payload passes through context twice.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141732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E8F6EF"/>
          </a:solidFill>
          <a:ln w="12700">
            <a:solidFill>
              <a:srgbClr val="E8F6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9E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execution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7818120" y="201168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6A4BC4"/>
          </a:solidFill>
          <a:ln w="12700">
            <a:solidFill>
              <a:srgbClr val="6A4BC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818120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context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223760" y="2926080"/>
            <a:ext cx="3383280" cy="640080"/>
          </a:xfrm>
          <a:prstGeom prst="roundRect">
            <a:avLst>
              <a:gd name="adj" fmla="val 14286"/>
            </a:avLst>
          </a:prstGeom>
          <a:solidFill>
            <a:srgbClr val="1E9E62"/>
          </a:solidFill>
          <a:ln w="12700">
            <a:solidFill>
              <a:srgbClr val="1E9E62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223760" y="29260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runs the script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92240" y="402336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E36F1E"/>
          </a:solidFill>
          <a:ln w="12700">
            <a:solidFill>
              <a:srgbClr val="E36F1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492240" y="4023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Methone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509760" y="402336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509760" y="4023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DaVinci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915400" y="2651760"/>
            <a:ext cx="914" cy="274320"/>
          </a:xfrm>
          <a:prstGeom prst="line">
            <a:avLst/>
          </a:prstGeom>
          <a:noFill/>
          <a:ln w="25400">
            <a:solidFill>
              <a:srgbClr val="6A4BC4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 flipH="1">
            <a:off x="7406640" y="3566160"/>
            <a:ext cx="274320" cy="457200"/>
          </a:xfrm>
          <a:prstGeom prst="line">
            <a:avLst/>
          </a:prstGeom>
          <a:noFill/>
          <a:ln w="31750">
            <a:solidFill>
              <a:srgbClr val="E36F1E"/>
            </a:solidFill>
            <a:prstDash val="solid"/>
            <a:headEnd type="triangl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149840" y="3566160"/>
            <a:ext cx="274320" cy="457200"/>
          </a:xfrm>
          <a:prstGeom prst="line">
            <a:avLst/>
          </a:prstGeom>
          <a:noFill/>
          <a:ln w="31750">
            <a:solidFill>
              <a:srgbClr val="0078D4"/>
            </a:solidFill>
            <a:prstDash val="solid"/>
            <a:headEnd type="triangle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6446520" y="48463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turn. Only a summary returns.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Vendor-reported savings (150k → 2k tokens) come from a different workload. Measure with real Methone payloads.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A2A only where DaVinci actually reasons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840480"/>
                <a:gridCol w="44805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tool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8B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A2A agent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4BC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of 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call, one result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task: submitted → working → completed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Callee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 function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 agent with its own 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tools/list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Signed Agent Card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 only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tokens on both sides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for DaVinci when…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returns data or runs a fixed operation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decides, and the caller wants the outcome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1663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516636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4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compose tools by default. Use A2A only when DaVinci makes a decision the caller needs.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the handle, not the blob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3429000"/>
          </a:xfrm>
          <a:prstGeom prst="roundRect">
            <a:avLst>
              <a:gd name="adj" fmla="val 213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69748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E36F1E"/>
          </a:solidFill>
          <a:ln w="12700">
            <a:solidFill>
              <a:srgbClr val="E36F1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84378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Methone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2095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export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0" y="269748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0F8B8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0" y="282549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32004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80 MB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69748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22335A"/>
          </a:solidFill>
          <a:ln w="12700">
            <a:solidFill>
              <a:srgbClr val="22335A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00800" y="284378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32095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the URI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0" y="269748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44000" y="284378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DaVinci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32095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when needed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08960" y="3154680"/>
            <a:ext cx="548640" cy="914"/>
          </a:xfrm>
          <a:prstGeom prst="line">
            <a:avLst/>
          </a:prstGeom>
          <a:noFill/>
          <a:ln w="76200">
            <a:solidFill>
              <a:srgbClr val="1E9E62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2011680" y="2057400"/>
            <a:ext cx="914" cy="640080"/>
          </a:xfrm>
          <a:prstGeom prst="line">
            <a:avLst/>
          </a:prstGeom>
          <a:noFill/>
          <a:ln w="31750">
            <a:solidFill>
              <a:srgbClr val="0078D4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2011680" y="2057400"/>
            <a:ext cx="5486400" cy="914"/>
          </a:xfrm>
          <a:prstGeom prst="line">
            <a:avLst/>
          </a:prstGeom>
          <a:noFill/>
          <a:ln w="31750">
            <a:solidFill>
              <a:srgbClr val="0078D4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498080" y="2057400"/>
            <a:ext cx="914" cy="640080"/>
          </a:xfrm>
          <a:prstGeom prst="line">
            <a:avLst/>
          </a:prstGeom>
          <a:noFill/>
          <a:ln w="31750">
            <a:solidFill>
              <a:srgbClr val="0078D4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566160" y="1901952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66160" y="190195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resource_link  ·  ~200 bytes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595360" y="3154680"/>
            <a:ext cx="548640" cy="914"/>
          </a:xfrm>
          <a:prstGeom prst="line">
            <a:avLst/>
          </a:prstGeom>
          <a:noFill/>
          <a:ln w="31750">
            <a:solidFill>
              <a:srgbClr val="0078D4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754880" y="3611880"/>
            <a:ext cx="914" cy="640080"/>
          </a:xfrm>
          <a:prstGeom prst="line">
            <a:avLst/>
          </a:prstGeom>
          <a:noFill/>
          <a:ln w="50800">
            <a:solidFill>
              <a:srgbClr val="1E9E62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4754880" y="4251960"/>
            <a:ext cx="5486400" cy="914"/>
          </a:xfrm>
          <a:prstGeom prst="line">
            <a:avLst/>
          </a:prstGeom>
          <a:noFill/>
          <a:ln w="50800">
            <a:solidFill>
              <a:srgbClr val="1E9E62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 flipV="1">
            <a:off x="10241280" y="3611880"/>
            <a:ext cx="914" cy="640080"/>
          </a:xfrm>
          <a:prstGeom prst="line">
            <a:avLst/>
          </a:prstGeom>
          <a:noFill/>
          <a:ln w="50800">
            <a:solidFill>
              <a:srgbClr val="1E9E62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583680" y="409651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E9E6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83680" y="409651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9E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bytes move once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03834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49834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(small)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281428" y="503834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E9E62"/>
          </a:solidFill>
          <a:ln w="12700">
            <a:solidFill>
              <a:srgbClr val="1E9E6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555748" y="49834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(large)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440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resource_link has been in the MCP spec since 2025-06-18.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clients still drop resource_link blocks. Test the one you use.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token passthrough: exchange at every hop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6A4BC4"/>
          </a:solidFill>
          <a:ln w="12700">
            <a:solidFill>
              <a:srgbClr val="6A4BC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6459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377440" y="2148840"/>
            <a:ext cx="457200" cy="914"/>
          </a:xfrm>
          <a:prstGeom prst="line">
            <a:avLst/>
          </a:prstGeom>
          <a:noFill/>
          <a:ln w="31750">
            <a:solidFill>
              <a:srgbClr val="4A5568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600200" y="2880360"/>
            <a:ext cx="2011680" cy="365760"/>
          </a:xfrm>
          <a:prstGeom prst="roundRect">
            <a:avLst>
              <a:gd name="adj" fmla="val 42500"/>
            </a:avLst>
          </a:prstGeom>
          <a:solidFill>
            <a:srgbClr val="FFFFFF"/>
          </a:solidFill>
          <a:ln w="15875">
            <a:solidFill>
              <a:srgbClr val="1E9E6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00200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9E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 · aud: gateway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834640" y="164592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834640" y="16459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663440" y="2148840"/>
            <a:ext cx="457200" cy="914"/>
          </a:xfrm>
          <a:prstGeom prst="line">
            <a:avLst/>
          </a:prstGeom>
          <a:noFill/>
          <a:ln w="31750">
            <a:solidFill>
              <a:srgbClr val="4A556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886200" y="2880360"/>
            <a:ext cx="2011680" cy="365760"/>
          </a:xfrm>
          <a:prstGeom prst="roundRect">
            <a:avLst>
              <a:gd name="adj" fmla="val 42500"/>
            </a:avLst>
          </a:prstGeom>
          <a:solidFill>
            <a:srgbClr val="FFFFFF"/>
          </a:solidFill>
          <a:ln w="15875">
            <a:solidFill>
              <a:srgbClr val="1E9E6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86200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9E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 · aud: composite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120640" y="164592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22335A"/>
          </a:solidFill>
          <a:ln w="12700">
            <a:solidFill>
              <a:srgbClr val="22335A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120640" y="16459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949440" y="2148840"/>
            <a:ext cx="457200" cy="914"/>
          </a:xfrm>
          <a:prstGeom prst="line">
            <a:avLst/>
          </a:prstGeom>
          <a:noFill/>
          <a:ln w="31750">
            <a:solidFill>
              <a:srgbClr val="4A556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72200" y="2880360"/>
            <a:ext cx="2011680" cy="365760"/>
          </a:xfrm>
          <a:prstGeom prst="roundRect">
            <a:avLst>
              <a:gd name="adj" fmla="val 42500"/>
            </a:avLst>
          </a:prstGeom>
          <a:solidFill>
            <a:srgbClr val="FFFFFF"/>
          </a:solidFill>
          <a:ln w="15875">
            <a:solidFill>
              <a:srgbClr val="1E9E6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72200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9E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T3 · aud: DaVinci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406640" y="164592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406640" y="16459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DaVinci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235440" y="2148840"/>
            <a:ext cx="457200" cy="914"/>
          </a:xfrm>
          <a:prstGeom prst="line">
            <a:avLst/>
          </a:prstGeom>
          <a:noFill/>
          <a:ln w="31750">
            <a:solidFill>
              <a:srgbClr val="4A5568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458200" y="2880360"/>
            <a:ext cx="2011680" cy="365760"/>
          </a:xfrm>
          <a:prstGeom prst="roundRect">
            <a:avLst>
              <a:gd name="adj" fmla="val 42500"/>
            </a:avLst>
          </a:prstGeom>
          <a:solidFill>
            <a:srgbClr val="FFFFFF"/>
          </a:solidFill>
          <a:ln w="15875">
            <a:solidFill>
              <a:srgbClr val="1E9E6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58200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9E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T4 · aud: Methone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692640" y="164592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E36F1E"/>
          </a:solidFill>
          <a:ln w="12700">
            <a:solidFill>
              <a:srgbClr val="E36F1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692640" y="16459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Methone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520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9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each hop swaps the inbound token for one scoped to the next audience.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8640" y="40690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40690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Forbidden: the composite forwards T1 unchanged to Methone. A compromised hop could then act as the user anywhere.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16636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Azure, Entra ID’s on-behalf-of flow is the closest fit to an RFC 8693 exchange (verify against your app registrations).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user in sub and the caller chain in act, so Methone can enforce the user’s own rights.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 takes an idempotency key: a dropped stream is re-sent as a new request.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agent turn, one trace, across Azure and Methone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3429000"/>
          </a:xfrm>
          <a:prstGeom prst="roundRect">
            <a:avLst>
              <a:gd name="adj" fmla="val 213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turn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566160" y="1691640"/>
            <a:ext cx="6949440" cy="402336"/>
          </a:xfrm>
          <a:prstGeom prst="roundRect">
            <a:avLst>
              <a:gd name="adj" fmla="val 13636"/>
            </a:avLst>
          </a:prstGeom>
          <a:solidFill>
            <a:srgbClr val="6A4BC4"/>
          </a:solidFill>
          <a:ln w="12700">
            <a:solidFill>
              <a:srgbClr val="6A4BC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25328" y="169164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 ms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9514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705149" y="2295144"/>
            <a:ext cx="6671462" cy="402336"/>
          </a:xfrm>
          <a:prstGeom prst="roundRect">
            <a:avLst>
              <a:gd name="adj" fmla="val 13636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486339" y="229514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960 ms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89864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· open_rma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983126" y="2898648"/>
            <a:ext cx="6115507" cy="402336"/>
          </a:xfrm>
          <a:prstGeom prst="roundRect">
            <a:avLst>
              <a:gd name="adj" fmla="val 13636"/>
            </a:avLst>
          </a:prstGeom>
          <a:solidFill>
            <a:srgbClr val="22335A"/>
          </a:solidFill>
          <a:ln w="12700">
            <a:solidFill>
              <a:srgbClr val="2233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208362" y="289864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880 ms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50215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DaVinci · check_coverage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400093" y="3502152"/>
            <a:ext cx="2084832" cy="402336"/>
          </a:xfrm>
          <a:prstGeom prst="roundRect">
            <a:avLst>
              <a:gd name="adj" fmla="val 13636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94653" y="350215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 ms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10565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Methone · reset_license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901891" y="4105656"/>
            <a:ext cx="2779776" cy="402336"/>
          </a:xfrm>
          <a:prstGeom prst="roundRect">
            <a:avLst>
              <a:gd name="adj" fmla="val 13636"/>
            </a:avLst>
          </a:prstGeom>
          <a:solidFill>
            <a:srgbClr val="E36F1E"/>
          </a:solidFill>
          <a:ln w="12700">
            <a:solidFill>
              <a:srgbClr val="E36F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791395" y="410565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 ms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4805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Durations are illustrative; the nesting is the point.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07492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_meta.traceparent through every hop. If the composite drops it, DaVinci and Methone become orphan traces.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OpenTelemetry backend works. Azure Monitor is the natural choice on the DaVinci side.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path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91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 at the edge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governed endpoint for both servers, with namespaced tools.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297680" y="14173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691640"/>
            <a:ext cx="502920" cy="502920"/>
          </a:xfrm>
          <a:prstGeom prst="ellipse">
            <a:avLst/>
          </a:prstGeom>
          <a:solidFill>
            <a:srgbClr val="22335A"/>
          </a:solidFill>
          <a:ln w="12700">
            <a:solidFill>
              <a:srgbClr val="2233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1691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Composite for fixed flows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3774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DaVinci and Methone in code: one model turn per action.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046720" y="14173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1691640"/>
            <a:ext cx="502920" cy="502920"/>
          </a:xfrm>
          <a:prstGeom prst="ellipse">
            <a:avLst/>
          </a:prstGeom>
          <a:solidFill>
            <a:srgbClr val="6A4BC4"/>
          </a:solidFill>
          <a:ln w="12700">
            <a:solidFill>
              <a:srgbClr val="6A4BC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1691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Exchange tokens per hop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3774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on-behalf-of at each hop. Never forward the inbound token.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069080"/>
            <a:ext cx="502920" cy="502920"/>
          </a:xfrm>
          <a:prstGeom prst="ellipse">
            <a:avLst/>
          </a:prstGeom>
          <a:solidFill>
            <a:srgbClr val="E36F1E"/>
          </a:solidFill>
          <a:ln w="12700">
            <a:solidFill>
              <a:srgbClr val="E36F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4069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Handles for large data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7548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Methone writes once; references travel. Code execution only if needed.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4297680" y="37947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4069080"/>
            <a:ext cx="502920" cy="50292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212080" y="4069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Idempotent writes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47548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 takes a key and goes through approval at the gateway.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8046720" y="37947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21040" y="4069080"/>
            <a:ext cx="502920" cy="50292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3210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961120" y="4069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 end to end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47548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traceparent in _meta at every hop: one turn, one trace.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options compare for DaVinci and Methone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926080"/>
                <a:gridCol w="2103120"/>
                <a:gridCol w="32004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hop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here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Host-mediated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turn each hop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Exploration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 (fixed flow)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≈0 in-process · +1 HTTP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9E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choice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network hop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Emerging → prod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9E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at the edge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execution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turn for N calls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99A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if payloads are large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 on both sides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99A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if DaVinci reasons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resource_link handles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~200 B reference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9E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large Methone output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bus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 proven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events, not sync calls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over gRPC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encode cost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yet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figures from vendors are directional only.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items before building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987552"/>
          </a:xfrm>
          <a:prstGeom prst="roundRect">
            <a:avLst>
              <a:gd name="adj" fmla="val 740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746504"/>
            <a:ext cx="329184" cy="329184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25880" y="152704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DaVinci transport and auth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9280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MCP transport, and which Entra app registration and scopes?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0" y="170992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0" y="170992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11064240" cy="987552"/>
          </a:xfrm>
          <a:prstGeom prst="roundRect">
            <a:avLst>
              <a:gd name="adj" fmla="val 740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89504"/>
            <a:ext cx="329184" cy="329184"/>
          </a:xfrm>
          <a:prstGeom prst="ellipse">
            <a:avLst/>
          </a:prstGeom>
          <a:solidFill>
            <a:srgbClr val="E36F1E"/>
          </a:solidFill>
          <a:ln w="12700">
            <a:solidFill>
              <a:srgbClr val="E36F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25880" y="267004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Methone interface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03580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transport, auth, payload sizes, and whether it writes.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058400" y="285292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E36F1E"/>
          </a:solidFill>
          <a:ln w="12700">
            <a:solidFill>
              <a:srgbClr val="E36F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0" y="285292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11064240" cy="987552"/>
          </a:xfrm>
          <a:prstGeom prst="roundRect">
            <a:avLst>
              <a:gd name="adj" fmla="val 740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032504"/>
            <a:ext cx="329184" cy="32918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325880" y="381304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visibility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7880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ai-integration-sandbox is public before linking it from a CV.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058400" y="399592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58400" y="399592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846320"/>
            <a:ext cx="11064240" cy="987552"/>
          </a:xfrm>
          <a:prstGeom prst="roundRect">
            <a:avLst>
              <a:gd name="adj" fmla="val 740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5175504"/>
            <a:ext cx="329184" cy="329184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325880" y="495604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 clause 19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532180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assignment covers work during employment and a year after. Settle whether personal public repos are included before publishing.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058400" y="513892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058400" y="513892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architecture overview</a:t>
            </a:r>
            <a:endParaRPr lang="en-US" sz="14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FB0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modelcontextprotocol.io/docs/2026-07-28/learn/architecture</a:t>
            </a:r>
            <a:endParaRPr lang="en-US" sz="14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specification 2026-07-28 (changelog, Streamable HTTP)</a:t>
            </a:r>
            <a:endParaRPr lang="en-US" sz="14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FB0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modelcontextprotocol.io/specification/2026-07-28</a:t>
            </a:r>
            <a:endParaRPr lang="en-US" sz="14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security best practices (no token passthrough)</a:t>
            </a:r>
            <a:endParaRPr lang="en-US" sz="14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FB0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modelcontextprotocol.io/docs/2026-07-28/tutorials/security</a:t>
            </a:r>
            <a:endParaRPr lang="en-US" sz="14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FastMCP server composition (mount, create_proxy)</a:t>
            </a:r>
            <a:endParaRPr lang="en-US" sz="14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FB0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gofastmcp.com/servers/composition</a:t>
            </a:r>
            <a:endParaRPr lang="en-US" sz="14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agentgateway virtual MCP / multiplexing</a:t>
            </a:r>
            <a:endParaRPr lang="en-US" sz="14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FB0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agentgateway.dev/docs/standalone/latest/mcp/connect/virtual</a:t>
            </a:r>
            <a:endParaRPr lang="en-US" sz="14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Anthropic: code execution with MCP</a:t>
            </a:r>
            <a:endParaRPr lang="en-US" sz="14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FB0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anthropic.com/engineering/code-execution-with-mcp</a:t>
            </a:r>
            <a:endParaRPr lang="en-US" sz="14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protocol v1.0</a:t>
            </a:r>
            <a:endParaRPr lang="en-US" sz="14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FB0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a2a-protocol.org</a:t>
            </a:r>
            <a:endParaRPr lang="en-US" sz="14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8693 token exchange · RFC 8707 resource indicators</a:t>
            </a:r>
            <a:endParaRPr lang="en-US" sz="14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FB0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datatracker.ietf.org</a:t>
            </a:r>
            <a:endParaRPr lang="en-US" sz="14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Entra on-behalf-of flow (not fetched; verify)</a:t>
            </a:r>
            <a:endParaRPr lang="en-US" sz="14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FB0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learn.microsoft.com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Vinci Methone">
  <a:themeElements>
    <a:clrScheme name="DaVinci Methone">
      <a:dk1>
        <a:srgbClr val="14213D"/>
      </a:dk1>
      <a:lt1>
        <a:srgbClr val="FFFFFF"/>
      </a:lt1>
      <a:dk2>
        <a:srgbClr val="14213D"/>
      </a:dk2>
      <a:lt2>
        <a:srgbClr val="F2F4F8"/>
      </a:lt2>
      <a:accent1>
        <a:srgbClr val="0078D4"/>
      </a:accent1>
      <a:accent2>
        <a:srgbClr val="E36F1E"/>
      </a:accent2>
      <a:accent3>
        <a:srgbClr val="6A4BC4"/>
      </a:accent3>
      <a:accent4>
        <a:srgbClr val="0F8B8D"/>
      </a:accent4>
      <a:accent5>
        <a:srgbClr val="1E9E62"/>
      </a:accent5>
      <a:accent6>
        <a:srgbClr val="D64545"/>
      </a:accent6>
      <a:hlink>
        <a:srgbClr val="0078D4"/>
      </a:hlink>
      <a:folHlink>
        <a:srgbClr val="6A4BC4"/>
      </a:folHlink>
    </a:clrScheme>
    <a:fontScheme name="DaVinci Methon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Connecting two MCP servers: DaVinci (Azure) and Methone</dc:title>
  <dc:subject>PptxGenJS Presentation</dc:subject>
  <dc:creator>PptxGenJS</dc:creator>
  <cp:lastModifiedBy>PptxGenJS</cp:lastModifiedBy>
  <cp:revision>1</cp:revision>
  <dcterms:created xsi:type="dcterms:W3CDTF">2026-10-22T12:48:14Z</dcterms:created>
  <dcterms:modified xsi:type="dcterms:W3CDTF">2026-10-22T12:48:14Z</dcterms:modified>
</cp:coreProperties>
</file>